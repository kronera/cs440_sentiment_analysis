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57" r:id="rId3"/>
    <p:sldId id="270" r:id="rId4"/>
    <p:sldId id="262" r:id="rId5"/>
    <p:sldId id="266" r:id="rId6"/>
    <p:sldId id="258" r:id="rId7"/>
    <p:sldId id="259" r:id="rId8"/>
    <p:sldId id="260" r:id="rId9"/>
    <p:sldId id="264" r:id="rId10"/>
    <p:sldId id="267" r:id="rId11"/>
    <p:sldId id="268" r:id="rId12"/>
    <p:sldId id="269" r:id="rId13"/>
    <p:sldId id="271" r:id="rId14"/>
    <p:sldId id="272" r:id="rId15"/>
    <p:sldId id="273" r:id="rId16"/>
    <p:sldId id="26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87E6BB-0F60-FF3D-12FA-879D49346343}" v="2" dt="2026-04-27T19:12:20.828"/>
    <p1510:client id="{45E47213-75F0-3527-D6F7-D5621A806E73}" v="16" dt="2026-04-27T22:03:08.353"/>
    <p1510:client id="{8396C27E-EF95-F329-2517-2DB34415D876}" v="854" dt="2026-04-28T17:00:46.783"/>
    <p1510:client id="{8D838059-A181-D6BE-7D94-A31B1F4D5131}" v="2453" dt="2026-04-28T17:05:09.488"/>
    <p1510:client id="{92E995EA-3D88-A103-638B-1E29E7599E7C}" v="1067" dt="2026-04-28T06:06:32.2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678426"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678426"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12575099-B3AD-44D7-919B-BCB6DC3E7F21}" type="datetimeFigureOut">
              <a:rPr lang="en-US" dirty="0"/>
              <a:t>5/1/2026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467725503"/>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2A4BF121-2723-4D35-ADA9-215CD054C4BC}" type="datetimeFigureOut">
              <a:rPr lang="en-US" dirty="0"/>
              <a:t>5/1/2026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716327859"/>
      </p:ext>
    </p:extLst>
  </p:cSld>
  <p:clrMapOvr>
    <a:masterClrMapping/>
  </p:clrMapOvr>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C54F54BA-4BC6-480F-839C-951A49B248A9}" type="datetimeFigureOut">
              <a:rPr lang="en-US" dirty="0"/>
              <a:t>5/1/2026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465506021"/>
      </p:ext>
    </p:extLst>
  </p:cSld>
  <p:clrMapOvr>
    <a:masterClrMapping/>
  </p:clrMapOvr>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22096"/>
            <a:ext cx="10691265" cy="112793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15383" y="2128684"/>
            <a:ext cx="5304417"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72200" y="2128684"/>
            <a:ext cx="5219700" cy="3844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0F9DD0EA-4726-4440-BF9D-E88296FC3068}" type="datetimeFigureOut">
              <a:rPr lang="en-US" dirty="0"/>
              <a:t>5/1/2026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369137102"/>
      </p:ext>
    </p:extLst>
  </p:cSld>
  <p:clrMapOvr>
    <a:masterClrMapping/>
  </p:clrMapOvr>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685887" y="929148"/>
            <a:ext cx="10640005" cy="761540"/>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15384" y="1681163"/>
            <a:ext cx="5282192"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15384" y="2505075"/>
            <a:ext cx="5282192"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72200" y="1681163"/>
            <a:ext cx="5183188" cy="657225"/>
          </a:xfrm>
        </p:spPr>
        <p:txBody>
          <a:bodyPr anchor="b">
            <a:normAutofit/>
          </a:bodyPr>
          <a:lstStyle>
            <a:lvl1pPr marL="0" indent="0">
              <a:buNone/>
              <a:defRPr sz="1600" b="1">
                <a:latin typeface="+mj-lt"/>
              </a:defRPr>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72200" y="2505075"/>
            <a:ext cx="5183188" cy="34237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19CAD10D-99D1-46B2-A85A-C16850FCF8CF}" type="datetimeFigureOut">
              <a:rPr lang="en-US" dirty="0"/>
              <a:t>5/1/2026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971703159"/>
      </p:ext>
    </p:extLst>
  </p:cSld>
  <p:clrMapOvr>
    <a:masterClrMapping/>
  </p:clrMapOvr>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48C67E51-34D6-4E3D-8F41-CC63EA446EDD}" type="datetimeFigureOut">
              <a:rPr lang="en-US" dirty="0"/>
              <a:t>5/1/2026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606966266"/>
      </p:ext>
    </p:extLst>
  </p:cSld>
  <p:clrMapOvr>
    <a:masterClrMapping/>
  </p:clrMapOvr>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8D49E550-CE3F-497F-B953-7DE0932F91C0}" type="datetimeFigureOut">
              <a:rPr lang="en-US" dirty="0"/>
              <a:t>5/1/2026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650507432"/>
      </p:ext>
    </p:extLst>
  </p:cSld>
  <p:clrMapOvr>
    <a:masterClrMapping/>
  </p:clrMapOvr>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678426" y="781665"/>
            <a:ext cx="4093599" cy="1223452"/>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688258" y="2315497"/>
            <a:ext cx="4093599" cy="355349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217A0BF4-BAA0-4539-95F2-9C4277F97478}" type="datetimeFigureOut">
              <a:rPr lang="en-US" dirty="0"/>
              <a:t>5/1/2026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473234892"/>
      </p:ext>
    </p:extLst>
  </p:cSld>
  <p:clrMapOvr>
    <a:masterClrMapping/>
  </p:clrMapOvr>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683342"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noChangeAspect="1"/>
          </p:cNvSpPr>
          <p:nvPr>
            <p:ph type="pic" idx="1"/>
          </p:nvPr>
        </p:nvSpPr>
        <p:spPr>
          <a:xfrm>
            <a:off x="5183188" y="1066800"/>
            <a:ext cx="6172200" cy="47942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683342"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2E9884E-D945-496C-84BE-49C61F78F9EC}" type="datetimeFigureOut">
              <a:rPr lang="en-US" dirty="0"/>
              <a:t>5/1/2026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2876881235"/>
      </p:ext>
    </p:extLst>
  </p:cSld>
  <p:clrMapOvr>
    <a:masterClrMapping/>
  </p:clrMapOvr>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F18115DA-6CBC-4AEF-A85F-371C66916CF8}" type="datetimeFigureOut">
              <a:rPr lang="en-US" dirty="0"/>
              <a:t>5/1/2026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017945957"/>
      </p:ext>
    </p:extLst>
  </p:cSld>
  <p:clrMapOvr>
    <a:masterClrMapping/>
  </p:clrMapOvr>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838200" y="997973"/>
            <a:ext cx="8404122"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2A6007E4-95E8-4ABC-B20B-51235318A487}" type="datetimeFigureOut">
              <a:rPr lang="en-US" dirty="0"/>
              <a:t>5/1/2026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E30AF5A0-43BB-4336-8627-9123B9144D80}" type="slidenum">
              <a:rPr lang="en-US" dirty="0"/>
              <a:t>‹#›</a:t>
            </a:fld>
            <a:endParaRPr lang="en-US"/>
          </a:p>
        </p:txBody>
      </p:sp>
    </p:spTree>
    <p:extLst>
      <p:ext uri="{BB962C8B-B14F-4D97-AF65-F5344CB8AC3E}">
        <p14:creationId xmlns:p14="http://schemas.microsoft.com/office/powerpoint/2010/main" val="3374567350"/>
      </p:ext>
    </p:extLst>
  </p:cSld>
  <p:clrMapOvr>
    <a:masterClrMapping/>
  </p:clrMapOvr>
  <p:hf sldNum="0"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22096"/>
            <a:ext cx="10691265" cy="137103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93126"/>
            <a:ext cx="10691265" cy="36360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sz="1050">
                <a:solidFill>
                  <a:schemeClr val="tx1"/>
                </a:solidFill>
                <a:latin typeface="+mj-lt"/>
              </a:defRPr>
            </a:lvl1pPr>
          </a:lstStyle>
          <a:p>
            <a:fld id="{CD438618-DEE5-47CF-A8B2-A9E090D503CD}" type="datetimeFigureOut">
              <a:rPr lang="en-US" dirty="0"/>
              <a:t>5/1/2026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a:t>
              </a:t>
            </a:r>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E30AF5A0-43BB-4336-8627-9123B9144D80}" type="slidenum">
              <a:rPr lang="en-US" dirty="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95511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guide id="8" orient="horz" pos="45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a:t>Sentiment Analysis Of  text data  using multiple models</a:t>
            </a:r>
          </a:p>
        </p:txBody>
      </p:sp>
      <p:sp>
        <p:nvSpPr>
          <p:cNvPr id="3" name="Subtitle 2"/>
          <p:cNvSpPr>
            <a:spLocks noGrp="1"/>
          </p:cNvSpPr>
          <p:nvPr>
            <p:ph type="subTitle" idx="1"/>
          </p:nvPr>
        </p:nvSpPr>
        <p:spPr/>
        <p:txBody>
          <a:bodyPr vert="horz" lIns="91440" tIns="45720" rIns="91440" bIns="45720" rtlCol="0" anchor="t">
            <a:normAutofit/>
          </a:bodyPr>
          <a:lstStyle/>
          <a:p>
            <a:r>
              <a:rPr lang="en-US"/>
              <a:t>Natan Najera Torres, Annalee </a:t>
            </a:r>
            <a:r>
              <a:rPr lang="en-US" err="1"/>
              <a:t>Nersten</a:t>
            </a:r>
            <a:r>
              <a:rPr lang="en-US"/>
              <a:t>, Ayden Garrett, Ryan </a:t>
            </a:r>
            <a:r>
              <a:rPr lang="en-US" err="1"/>
              <a:t>Brombaugh</a:t>
            </a:r>
            <a:endParaRPr lang="en-US"/>
          </a:p>
        </p:txBody>
      </p:sp>
      <p:sp>
        <p:nvSpPr>
          <p:cNvPr id="4" name="TextBox 3">
            <a:extLst>
              <a:ext uri="{FF2B5EF4-FFF2-40B4-BE49-F238E27FC236}">
                <a16:creationId xmlns:a16="http://schemas.microsoft.com/office/drawing/2014/main" id="{5BF70BD2-D448-463C-C09A-BF095AA2B147}"/>
              </a:ext>
            </a:extLst>
          </p:cNvPr>
          <p:cNvSpPr txBox="1"/>
          <p:nvPr/>
        </p:nvSpPr>
        <p:spPr>
          <a:xfrm>
            <a:off x="680527" y="6239773"/>
            <a:ext cx="39969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CS 440 – Group 20 – 04/28/2026</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A829E-CB57-57AF-EEAB-A8DBE29CB4A6}"/>
              </a:ext>
            </a:extLst>
          </p:cNvPr>
          <p:cNvSpPr>
            <a:spLocks noGrp="1"/>
          </p:cNvSpPr>
          <p:nvPr>
            <p:ph type="title"/>
          </p:nvPr>
        </p:nvSpPr>
        <p:spPr/>
        <p:txBody>
          <a:bodyPr/>
          <a:lstStyle/>
          <a:p>
            <a:r>
              <a:rPr lang="en-US"/>
              <a:t>Problem statement</a:t>
            </a:r>
          </a:p>
        </p:txBody>
      </p:sp>
      <p:sp>
        <p:nvSpPr>
          <p:cNvPr id="3" name="Content Placeholder 2">
            <a:extLst>
              <a:ext uri="{FF2B5EF4-FFF2-40B4-BE49-F238E27FC236}">
                <a16:creationId xmlns:a16="http://schemas.microsoft.com/office/drawing/2014/main" id="{FB4885CD-590F-E293-633C-74D2525CCEC2}"/>
              </a:ext>
            </a:extLst>
          </p:cNvPr>
          <p:cNvSpPr>
            <a:spLocks noGrp="1"/>
          </p:cNvSpPr>
          <p:nvPr>
            <p:ph idx="1"/>
          </p:nvPr>
        </p:nvSpPr>
        <p:spPr/>
        <p:txBody>
          <a:bodyPr vert="horz" lIns="91440" tIns="45720" rIns="91440" bIns="45720" rtlCol="0" anchor="t">
            <a:normAutofit/>
          </a:bodyPr>
          <a:lstStyle/>
          <a:p>
            <a:pPr marL="0" indent="0">
              <a:buNone/>
            </a:pPr>
            <a:r>
              <a:rPr lang="en-US"/>
              <a:t>Sentiment analysis is the analysis of a piece of text to determine positive or negative user sentiment.</a:t>
            </a:r>
          </a:p>
          <a:p>
            <a:pPr marL="0" indent="0">
              <a:buNone/>
            </a:pPr>
            <a:r>
              <a:rPr lang="en-US"/>
              <a:t>The goal is to classify text as positive or negative using machine learning</a:t>
            </a:r>
          </a:p>
          <a:p>
            <a:pPr marL="0" indent="0">
              <a:buNone/>
            </a:pPr>
            <a:r>
              <a:rPr lang="en-US"/>
              <a:t>Used in:</a:t>
            </a:r>
          </a:p>
          <a:p>
            <a:pPr lvl="1">
              <a:buFont typeface="Courier New" panose="020B0604020202020204" pitchFamily="34" charset="0"/>
              <a:buChar char="o"/>
            </a:pPr>
            <a:r>
              <a:rPr lang="en-US"/>
              <a:t>Product Reviews</a:t>
            </a:r>
          </a:p>
          <a:p>
            <a:pPr lvl="1">
              <a:buFont typeface="Courier New" panose="020B0604020202020204" pitchFamily="34" charset="0"/>
              <a:buChar char="o"/>
            </a:pPr>
            <a:r>
              <a:rPr lang="en-US"/>
              <a:t>Social Media</a:t>
            </a:r>
          </a:p>
          <a:p>
            <a:pPr lvl="1">
              <a:buFont typeface="Courier New" panose="020B0604020202020204" pitchFamily="34" charset="0"/>
              <a:buChar char="o"/>
            </a:pPr>
            <a:r>
              <a:rPr lang="en-US"/>
              <a:t>Feedback Systems</a:t>
            </a:r>
          </a:p>
        </p:txBody>
      </p:sp>
    </p:spTree>
    <p:extLst>
      <p:ext uri="{BB962C8B-B14F-4D97-AF65-F5344CB8AC3E}">
        <p14:creationId xmlns:p14="http://schemas.microsoft.com/office/powerpoint/2010/main" val="2092245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6E5A9-64D4-663E-FB17-DACF0C95BD98}"/>
              </a:ext>
            </a:extLst>
          </p:cNvPr>
          <p:cNvSpPr>
            <a:spLocks noGrp="1"/>
          </p:cNvSpPr>
          <p:nvPr>
            <p:ph type="title"/>
          </p:nvPr>
        </p:nvSpPr>
        <p:spPr/>
        <p:txBody>
          <a:bodyPr/>
          <a:lstStyle/>
          <a:p>
            <a:r>
              <a:rPr lang="en-US"/>
              <a:t>WHY it is useful</a:t>
            </a:r>
          </a:p>
        </p:txBody>
      </p:sp>
      <p:sp>
        <p:nvSpPr>
          <p:cNvPr id="3" name="Content Placeholder 2">
            <a:extLst>
              <a:ext uri="{FF2B5EF4-FFF2-40B4-BE49-F238E27FC236}">
                <a16:creationId xmlns:a16="http://schemas.microsoft.com/office/drawing/2014/main" id="{40BDDB85-C3F8-61E6-B892-0A5327FF852D}"/>
              </a:ext>
            </a:extLst>
          </p:cNvPr>
          <p:cNvSpPr>
            <a:spLocks noGrp="1"/>
          </p:cNvSpPr>
          <p:nvPr>
            <p:ph idx="1"/>
          </p:nvPr>
        </p:nvSpPr>
        <p:spPr/>
        <p:txBody>
          <a:bodyPr vert="horz" lIns="91440" tIns="45720" rIns="91440" bIns="45720" rtlCol="0" anchor="t">
            <a:normAutofit/>
          </a:bodyPr>
          <a:lstStyle/>
          <a:p>
            <a:pPr marL="0" indent="0">
              <a:buNone/>
            </a:pPr>
            <a:r>
              <a:rPr lang="en-US"/>
              <a:t>The ability to quickly and efficiently determine user sentiment surround some product, business, media allows for:</a:t>
            </a:r>
          </a:p>
          <a:p>
            <a:r>
              <a:rPr lang="en-US"/>
              <a:t>User/Consumer opinion</a:t>
            </a:r>
          </a:p>
          <a:p>
            <a:r>
              <a:rPr lang="en-US"/>
              <a:t>Quick reaction to positive and or negative sentiments</a:t>
            </a:r>
          </a:p>
          <a:p>
            <a:r>
              <a:rPr lang="en-US"/>
              <a:t>Understand and analyze complex opinions in aggregation</a:t>
            </a:r>
          </a:p>
        </p:txBody>
      </p:sp>
      <p:sp>
        <p:nvSpPr>
          <p:cNvPr id="4" name="Date Placeholder 3">
            <a:extLst>
              <a:ext uri="{FF2B5EF4-FFF2-40B4-BE49-F238E27FC236}">
                <a16:creationId xmlns:a16="http://schemas.microsoft.com/office/drawing/2014/main" id="{F46D046C-7791-B652-99A2-0D58646BB4A4}"/>
              </a:ext>
            </a:extLst>
          </p:cNvPr>
          <p:cNvSpPr>
            <a:spLocks noGrp="1"/>
          </p:cNvSpPr>
          <p:nvPr>
            <p:ph type="dt" sz="half" idx="10"/>
          </p:nvPr>
        </p:nvSpPr>
        <p:spPr/>
        <p:txBody>
          <a:bodyPr/>
          <a:lstStyle/>
          <a:p>
            <a:fld id="{D5252D5B-D8B8-432F-A62E-C3C14E78EFB4}" type="datetime1">
              <a:t>5/1/2026</a:t>
            </a:fld>
            <a:endParaRPr lang="en-US"/>
          </a:p>
        </p:txBody>
      </p:sp>
    </p:spTree>
    <p:extLst>
      <p:ext uri="{BB962C8B-B14F-4D97-AF65-F5344CB8AC3E}">
        <p14:creationId xmlns:p14="http://schemas.microsoft.com/office/powerpoint/2010/main" val="27606081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11B9F-2F73-0503-8DEC-2E0BF03F2F4A}"/>
              </a:ext>
            </a:extLst>
          </p:cNvPr>
          <p:cNvSpPr>
            <a:spLocks noGrp="1"/>
          </p:cNvSpPr>
          <p:nvPr>
            <p:ph type="title"/>
          </p:nvPr>
        </p:nvSpPr>
        <p:spPr/>
        <p:txBody>
          <a:bodyPr/>
          <a:lstStyle/>
          <a:p>
            <a:r>
              <a:rPr lang="en-US"/>
              <a:t>Datasets Used</a:t>
            </a:r>
          </a:p>
        </p:txBody>
      </p:sp>
      <p:sp>
        <p:nvSpPr>
          <p:cNvPr id="3" name="Content Placeholder 2">
            <a:extLst>
              <a:ext uri="{FF2B5EF4-FFF2-40B4-BE49-F238E27FC236}">
                <a16:creationId xmlns:a16="http://schemas.microsoft.com/office/drawing/2014/main" id="{7EAFE534-0E4C-C00E-BAB7-4EA90593D1D2}"/>
              </a:ext>
            </a:extLst>
          </p:cNvPr>
          <p:cNvSpPr>
            <a:spLocks noGrp="1"/>
          </p:cNvSpPr>
          <p:nvPr>
            <p:ph idx="1"/>
          </p:nvPr>
        </p:nvSpPr>
        <p:spPr/>
        <p:txBody>
          <a:bodyPr vert="horz" lIns="91440" tIns="45720" rIns="91440" bIns="45720" rtlCol="0" anchor="t">
            <a:normAutofit/>
          </a:bodyPr>
          <a:lstStyle/>
          <a:p>
            <a:r>
              <a:rPr lang="en-US"/>
              <a:t>Yelp Open Dataset</a:t>
            </a:r>
          </a:p>
          <a:p>
            <a:pPr lvl="1">
              <a:buFont typeface="Courier New" panose="020B0604020202020204" pitchFamily="34" charset="0"/>
              <a:buChar char="o"/>
            </a:pPr>
            <a:r>
              <a:rPr lang="en-US"/>
              <a:t>~12,000 businesses, with name location, and associated yelp reviews</a:t>
            </a:r>
          </a:p>
          <a:p>
            <a:pPr lvl="1">
              <a:buFont typeface="Courier New" panose="020B0604020202020204" pitchFamily="34" charset="0"/>
              <a:buChar char="o"/>
            </a:pPr>
            <a:r>
              <a:rPr lang="en-US"/>
              <a:t>Millions of written customer Yelp reviews for individual businesses</a:t>
            </a:r>
          </a:p>
          <a:p>
            <a:r>
              <a:rPr lang="en-US"/>
              <a:t>IMDB Dataset</a:t>
            </a:r>
          </a:p>
          <a:p>
            <a:pPr lvl="1">
              <a:buFont typeface="Courier New" panose="020B0604020202020204" pitchFamily="34" charset="0"/>
              <a:buChar char="o"/>
            </a:pPr>
            <a:r>
              <a:rPr lang="en-US"/>
              <a:t>Dataset of 50,000 labeled (positive/negative) written IMDB movie reviews.</a:t>
            </a:r>
          </a:p>
          <a:p>
            <a:r>
              <a:rPr lang="en-US" err="1"/>
              <a:t>GloVe</a:t>
            </a:r>
            <a:r>
              <a:rPr lang="en-US"/>
              <a:t> (Global Vectors for Word Representation)Word Vectors</a:t>
            </a:r>
          </a:p>
          <a:p>
            <a:pPr lvl="1">
              <a:buFont typeface="Courier New" panose="020B0604020202020204" pitchFamily="34" charset="0"/>
              <a:buChar char="o"/>
            </a:pPr>
            <a:r>
              <a:rPr lang="en-US"/>
              <a:t>400,000 word embeddings mapped to numerical vectors</a:t>
            </a:r>
          </a:p>
          <a:p>
            <a:pPr lvl="1">
              <a:buFont typeface="Courier New" panose="020B0604020202020204" pitchFamily="34" charset="0"/>
              <a:buChar char="o"/>
            </a:pPr>
            <a:r>
              <a:rPr lang="en-US"/>
              <a:t>Maps similarity to words to each other, and which worse tend to appear together </a:t>
            </a:r>
          </a:p>
          <a:p>
            <a:pPr lvl="1">
              <a:buFont typeface="Courier New" panose="020B0604020202020204" pitchFamily="34" charset="0"/>
              <a:buChar char="o"/>
            </a:pPr>
            <a:endParaRPr lang="en-US"/>
          </a:p>
          <a:p>
            <a:pPr lvl="1">
              <a:buFont typeface="Courier New" panose="020B0604020202020204" pitchFamily="34" charset="0"/>
              <a:buChar char="o"/>
            </a:pPr>
            <a:endParaRPr lang="en-US"/>
          </a:p>
          <a:p>
            <a:pPr lvl="1">
              <a:buFont typeface="Courier New" panose="020B0604020202020204" pitchFamily="34" charset="0"/>
              <a:buChar char="o"/>
            </a:pPr>
            <a:endParaRPr lang="en-US"/>
          </a:p>
          <a:p>
            <a:pPr lvl="1">
              <a:buFont typeface="Courier New" panose="020B0604020202020204" pitchFamily="34" charset="0"/>
              <a:buChar char="o"/>
            </a:pPr>
            <a:endParaRPr lang="en-US"/>
          </a:p>
          <a:p>
            <a:pPr lvl="1">
              <a:buFont typeface="Courier New" panose="020B0604020202020204" pitchFamily="34" charset="0"/>
              <a:buChar char="o"/>
            </a:pPr>
            <a:endParaRPr lang="en-US"/>
          </a:p>
        </p:txBody>
      </p:sp>
    </p:spTree>
    <p:extLst>
      <p:ext uri="{BB962C8B-B14F-4D97-AF65-F5344CB8AC3E}">
        <p14:creationId xmlns:p14="http://schemas.microsoft.com/office/powerpoint/2010/main" val="1345934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6A132-0B98-DC68-3CB0-CF3AFE249047}"/>
              </a:ext>
            </a:extLst>
          </p:cNvPr>
          <p:cNvSpPr>
            <a:spLocks noGrp="1"/>
          </p:cNvSpPr>
          <p:nvPr>
            <p:ph type="title"/>
          </p:nvPr>
        </p:nvSpPr>
        <p:spPr/>
        <p:txBody>
          <a:bodyPr/>
          <a:lstStyle/>
          <a:p>
            <a:r>
              <a:rPr lang="en-US"/>
              <a:t>Preprocessing and Cleaning</a:t>
            </a:r>
          </a:p>
        </p:txBody>
      </p:sp>
      <p:sp>
        <p:nvSpPr>
          <p:cNvPr id="3" name="Content Placeholder 2">
            <a:extLst>
              <a:ext uri="{FF2B5EF4-FFF2-40B4-BE49-F238E27FC236}">
                <a16:creationId xmlns:a16="http://schemas.microsoft.com/office/drawing/2014/main" id="{2A8624E3-1585-89F2-D683-946BD2B5BE50}"/>
              </a:ext>
            </a:extLst>
          </p:cNvPr>
          <p:cNvSpPr>
            <a:spLocks noGrp="1"/>
          </p:cNvSpPr>
          <p:nvPr>
            <p:ph idx="1"/>
          </p:nvPr>
        </p:nvSpPr>
        <p:spPr/>
        <p:txBody>
          <a:bodyPr vert="horz" lIns="91440" tIns="45720" rIns="91440" bIns="45720" rtlCol="0" anchor="t">
            <a:normAutofit/>
          </a:bodyPr>
          <a:lstStyle/>
          <a:p>
            <a:r>
              <a:rPr lang="en-US"/>
              <a:t>Text Standardization</a:t>
            </a:r>
          </a:p>
          <a:p>
            <a:pPr lvl="1">
              <a:buFont typeface="Courier New" panose="020B0604020202020204" pitchFamily="34" charset="0"/>
              <a:buChar char="o"/>
            </a:pPr>
            <a:r>
              <a:rPr lang="en-US"/>
              <a:t>Removes punctuation and separates contractions.</a:t>
            </a:r>
          </a:p>
          <a:p>
            <a:r>
              <a:rPr lang="en-US"/>
              <a:t>Lemmatization</a:t>
            </a:r>
          </a:p>
          <a:p>
            <a:pPr lvl="1">
              <a:buFont typeface="Courier New" panose="020B0604020202020204" pitchFamily="34" charset="0"/>
              <a:buChar char="o"/>
            </a:pPr>
            <a:r>
              <a:rPr lang="en-US"/>
              <a:t>Groups similar words into a single word (Walked, Walking -&gt; Walk)</a:t>
            </a:r>
          </a:p>
          <a:p>
            <a:r>
              <a:rPr lang="en-US"/>
              <a:t>Negation System</a:t>
            </a:r>
          </a:p>
          <a:p>
            <a:pPr lvl="1">
              <a:buFont typeface="Courier New" panose="020B0604020202020204" pitchFamily="34" charset="0"/>
              <a:buChar char="o"/>
            </a:pPr>
            <a:r>
              <a:rPr lang="en-US"/>
              <a:t>Positive or negative words with negation word in front of them (Ex: not good, not bad) get a negation tag to flip their contributions to sentiment score.</a:t>
            </a:r>
            <a:endParaRPr lang="en-US" sz="2000"/>
          </a:p>
        </p:txBody>
      </p:sp>
      <p:sp>
        <p:nvSpPr>
          <p:cNvPr id="4" name="Date Placeholder 3">
            <a:extLst>
              <a:ext uri="{FF2B5EF4-FFF2-40B4-BE49-F238E27FC236}">
                <a16:creationId xmlns:a16="http://schemas.microsoft.com/office/drawing/2014/main" id="{B8073048-29C7-AB6C-2FDD-59CD57B13507}"/>
              </a:ext>
            </a:extLst>
          </p:cNvPr>
          <p:cNvSpPr>
            <a:spLocks noGrp="1"/>
          </p:cNvSpPr>
          <p:nvPr>
            <p:ph type="dt" sz="half" idx="10"/>
          </p:nvPr>
        </p:nvSpPr>
        <p:spPr/>
        <p:txBody>
          <a:bodyPr/>
          <a:lstStyle/>
          <a:p>
            <a:fld id="{AED04D55-BBF2-4CCD-A1D8-C325D5D0D927}" type="datetime1">
              <a:t>5/1/2026</a:t>
            </a:fld>
            <a:endParaRPr lang="en-US"/>
          </a:p>
        </p:txBody>
      </p:sp>
    </p:spTree>
    <p:extLst>
      <p:ext uri="{BB962C8B-B14F-4D97-AF65-F5344CB8AC3E}">
        <p14:creationId xmlns:p14="http://schemas.microsoft.com/office/powerpoint/2010/main" val="1680667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A6669-D619-9058-B08D-ADACD4949C43}"/>
              </a:ext>
            </a:extLst>
          </p:cNvPr>
          <p:cNvSpPr>
            <a:spLocks noGrp="1"/>
          </p:cNvSpPr>
          <p:nvPr>
            <p:ph type="title"/>
          </p:nvPr>
        </p:nvSpPr>
        <p:spPr/>
        <p:txBody>
          <a:bodyPr/>
          <a:lstStyle/>
          <a:p>
            <a:r>
              <a:rPr lang="en-US"/>
              <a:t>Approach</a:t>
            </a:r>
          </a:p>
        </p:txBody>
      </p:sp>
      <p:sp>
        <p:nvSpPr>
          <p:cNvPr id="3" name="Content Placeholder 2">
            <a:extLst>
              <a:ext uri="{FF2B5EF4-FFF2-40B4-BE49-F238E27FC236}">
                <a16:creationId xmlns:a16="http://schemas.microsoft.com/office/drawing/2014/main" id="{BE91EC23-5513-7C6A-7B12-4B21D7504019}"/>
              </a:ext>
            </a:extLst>
          </p:cNvPr>
          <p:cNvSpPr>
            <a:spLocks noGrp="1"/>
          </p:cNvSpPr>
          <p:nvPr>
            <p:ph idx="1"/>
          </p:nvPr>
        </p:nvSpPr>
        <p:spPr/>
        <p:txBody>
          <a:bodyPr vert="horz" lIns="91440" tIns="45720" rIns="91440" bIns="45720" rtlCol="0" anchor="t">
            <a:normAutofit/>
          </a:bodyPr>
          <a:lstStyle/>
          <a:p>
            <a:pPr marL="0" indent="0">
              <a:buNone/>
            </a:pPr>
            <a:r>
              <a:rPr lang="en-US"/>
              <a:t>We focused on the creation of a few NLP (Natural Language Processor) models to determine user sentiment. This allowed our group to:</a:t>
            </a:r>
          </a:p>
          <a:p>
            <a:pPr lvl="1">
              <a:buFont typeface="Courier New" panose="020B0604020202020204" pitchFamily="34" charset="0"/>
              <a:buChar char="o"/>
            </a:pPr>
            <a:r>
              <a:rPr lang="en-US"/>
              <a:t>Allow raw text to be converted to classifiable data</a:t>
            </a:r>
          </a:p>
          <a:p>
            <a:pPr lvl="1">
              <a:buFont typeface="Courier New" panose="020B0604020202020204" pitchFamily="34" charset="0"/>
              <a:buChar char="o"/>
            </a:pPr>
            <a:r>
              <a:rPr lang="en-US"/>
              <a:t>Utilize machine learning to comprehend words in context</a:t>
            </a:r>
          </a:p>
          <a:p>
            <a:pPr lvl="1">
              <a:buFont typeface="Courier New" panose="020B0604020202020204" pitchFamily="34" charset="0"/>
              <a:buChar char="o"/>
            </a:pPr>
            <a:r>
              <a:rPr lang="en-US"/>
              <a:t>Measure certainty and ambiguity in written reviews</a:t>
            </a:r>
          </a:p>
          <a:p>
            <a:pPr lvl="1">
              <a:buFont typeface="Courier New" panose="020B0604020202020204" pitchFamily="34" charset="0"/>
              <a:buChar char="o"/>
            </a:pPr>
            <a:r>
              <a:rPr lang="en-US"/>
              <a:t>Extract meaning from written words using machine learning</a:t>
            </a:r>
          </a:p>
        </p:txBody>
      </p:sp>
    </p:spTree>
    <p:extLst>
      <p:ext uri="{BB962C8B-B14F-4D97-AF65-F5344CB8AC3E}">
        <p14:creationId xmlns:p14="http://schemas.microsoft.com/office/powerpoint/2010/main" val="2225828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01567-2C6F-DB66-2015-D91FEE97F059}"/>
              </a:ext>
            </a:extLst>
          </p:cNvPr>
          <p:cNvSpPr>
            <a:spLocks noGrp="1"/>
          </p:cNvSpPr>
          <p:nvPr>
            <p:ph type="title"/>
          </p:nvPr>
        </p:nvSpPr>
        <p:spPr/>
        <p:txBody>
          <a:bodyPr/>
          <a:lstStyle/>
          <a:p>
            <a:r>
              <a:rPr lang="en-US"/>
              <a:t>CNN</a:t>
            </a:r>
          </a:p>
        </p:txBody>
      </p:sp>
      <p:sp>
        <p:nvSpPr>
          <p:cNvPr id="3" name="Content Placeholder 2">
            <a:extLst>
              <a:ext uri="{FF2B5EF4-FFF2-40B4-BE49-F238E27FC236}">
                <a16:creationId xmlns:a16="http://schemas.microsoft.com/office/drawing/2014/main" id="{B625BD50-F336-B9F2-DEAA-12601E4BD68B}"/>
              </a:ext>
            </a:extLst>
          </p:cNvPr>
          <p:cNvSpPr>
            <a:spLocks noGrp="1"/>
          </p:cNvSpPr>
          <p:nvPr>
            <p:ph idx="1"/>
          </p:nvPr>
        </p:nvSpPr>
        <p:spPr/>
        <p:txBody>
          <a:bodyPr vert="horz" lIns="91440" tIns="45720" rIns="91440" bIns="45720" rtlCol="0" anchor="t">
            <a:normAutofit/>
          </a:bodyPr>
          <a:lstStyle/>
          <a:p>
            <a:pPr marL="0" indent="0">
              <a:buNone/>
            </a:pPr>
            <a:r>
              <a:rPr lang="en-US"/>
              <a:t>Our team utilized a </a:t>
            </a:r>
            <a:r>
              <a:rPr lang="en-US">
                <a:ea typeface="+mn-lt"/>
                <a:cs typeface="+mn-lt"/>
              </a:rPr>
              <a:t>Convolutional Neural Network to do the bulk of the analysis and classification for written reviews. The CNN model's main advantage for this project was its ability to capture local context within reviews. This process was accomplished by:</a:t>
            </a:r>
          </a:p>
          <a:p>
            <a:pPr marL="342900" indent="-342900"/>
            <a:r>
              <a:rPr lang="en-US"/>
              <a:t>Tokenizing written Yelp reviews</a:t>
            </a:r>
          </a:p>
          <a:p>
            <a:pPr marL="342900" indent="-342900"/>
            <a:r>
              <a:rPr lang="en-US"/>
              <a:t>Vectorizing existing tokens using </a:t>
            </a:r>
            <a:r>
              <a:rPr lang="en-US" err="1"/>
              <a:t>GloVe</a:t>
            </a:r>
            <a:r>
              <a:rPr lang="en-US"/>
              <a:t> to determine meaningful tokens</a:t>
            </a:r>
          </a:p>
          <a:p>
            <a:pPr marL="342900" indent="-342900"/>
            <a:r>
              <a:rPr lang="en-US"/>
              <a:t>Use Convolutional filters to capture the strength of user sentiment across tokens</a:t>
            </a:r>
          </a:p>
          <a:p>
            <a:pPr marL="342900" indent="-342900"/>
            <a:r>
              <a:rPr lang="en-US"/>
              <a:t>Grade tokens and phrases with the highest and lowest sentiment scores</a:t>
            </a:r>
          </a:p>
        </p:txBody>
      </p:sp>
    </p:spTree>
    <p:extLst>
      <p:ext uri="{BB962C8B-B14F-4D97-AF65-F5344CB8AC3E}">
        <p14:creationId xmlns:p14="http://schemas.microsoft.com/office/powerpoint/2010/main" val="319103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CD0C4-205E-503F-7BD7-12CE53E1649C}"/>
              </a:ext>
            </a:extLst>
          </p:cNvPr>
          <p:cNvSpPr>
            <a:spLocks noGrp="1"/>
          </p:cNvSpPr>
          <p:nvPr>
            <p:ph type="title"/>
          </p:nvPr>
        </p:nvSpPr>
        <p:spPr/>
        <p:txBody>
          <a:bodyPr/>
          <a:lstStyle/>
          <a:p>
            <a:r>
              <a:rPr lang="en-US"/>
              <a:t>Gradient Boosting</a:t>
            </a:r>
          </a:p>
        </p:txBody>
      </p:sp>
      <p:sp>
        <p:nvSpPr>
          <p:cNvPr id="3" name="Content Placeholder 2">
            <a:extLst>
              <a:ext uri="{FF2B5EF4-FFF2-40B4-BE49-F238E27FC236}">
                <a16:creationId xmlns:a16="http://schemas.microsoft.com/office/drawing/2014/main" id="{C018F8EB-8241-97A2-03C6-25A42D7B8608}"/>
              </a:ext>
            </a:extLst>
          </p:cNvPr>
          <p:cNvSpPr>
            <a:spLocks noGrp="1"/>
          </p:cNvSpPr>
          <p:nvPr>
            <p:ph idx="1"/>
          </p:nvPr>
        </p:nvSpPr>
        <p:spPr/>
        <p:txBody>
          <a:bodyPr vert="horz" lIns="91440" tIns="45720" rIns="91440" bIns="45720" rtlCol="0" anchor="t">
            <a:normAutofit/>
          </a:bodyPr>
          <a:lstStyle/>
          <a:p>
            <a:pPr marL="0" indent="0">
              <a:buNone/>
            </a:pPr>
            <a:r>
              <a:rPr lang="en-US"/>
              <a:t>Gradient Boosting served as a measurement against the CNN to determine token ambiguity. </a:t>
            </a:r>
          </a:p>
          <a:p>
            <a:pPr marL="342900" indent="-342900"/>
            <a:r>
              <a:rPr lang="en-US"/>
              <a:t>Should CNN label a token as positive and Gradient Boosting label the same token as negative the token is label ambiguous</a:t>
            </a:r>
          </a:p>
          <a:p>
            <a:pPr marL="342900" indent="-342900"/>
            <a:r>
              <a:rPr lang="en-US"/>
              <a:t>Should CNN label a token as negative and Gradient Boosting label the same token as negative the token is not labeled ambiguous</a:t>
            </a:r>
          </a:p>
        </p:txBody>
      </p:sp>
    </p:spTree>
    <p:extLst>
      <p:ext uri="{BB962C8B-B14F-4D97-AF65-F5344CB8AC3E}">
        <p14:creationId xmlns:p14="http://schemas.microsoft.com/office/powerpoint/2010/main" val="1319799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892D4-F0E2-4CFF-90D0-DED08E25D800}"/>
              </a:ext>
            </a:extLst>
          </p:cNvPr>
          <p:cNvSpPr>
            <a:spLocks noGrp="1"/>
          </p:cNvSpPr>
          <p:nvPr>
            <p:ph type="title"/>
          </p:nvPr>
        </p:nvSpPr>
        <p:spPr/>
        <p:txBody>
          <a:bodyPr/>
          <a:lstStyle/>
          <a:p>
            <a:r>
              <a:rPr lang="en-US"/>
              <a:t>Naïve Bayes</a:t>
            </a:r>
          </a:p>
        </p:txBody>
      </p:sp>
      <p:sp>
        <p:nvSpPr>
          <p:cNvPr id="3" name="Content Placeholder 2">
            <a:extLst>
              <a:ext uri="{FF2B5EF4-FFF2-40B4-BE49-F238E27FC236}">
                <a16:creationId xmlns:a16="http://schemas.microsoft.com/office/drawing/2014/main" id="{904FBB64-0D67-53E0-B32B-0C1353C522B4}"/>
              </a:ext>
            </a:extLst>
          </p:cNvPr>
          <p:cNvSpPr>
            <a:spLocks noGrp="1"/>
          </p:cNvSpPr>
          <p:nvPr>
            <p:ph idx="1"/>
          </p:nvPr>
        </p:nvSpPr>
        <p:spPr/>
        <p:txBody>
          <a:bodyPr vert="horz" lIns="91440" tIns="45720" rIns="91440" bIns="45720" rtlCol="0" anchor="t">
            <a:normAutofit/>
          </a:bodyPr>
          <a:lstStyle/>
          <a:p>
            <a:pPr marL="0" indent="0">
              <a:buNone/>
            </a:pPr>
            <a:r>
              <a:rPr lang="en-US"/>
              <a:t>Naïve Bayes was used in this project to create concrete sentiment scores for individual tokens where CNN does not</a:t>
            </a:r>
          </a:p>
          <a:p>
            <a:r>
              <a:rPr lang="en-US"/>
              <a:t>Something like 'amazing':</a:t>
            </a:r>
          </a:p>
          <a:p>
            <a:pPr lvl="1">
              <a:buFont typeface="Courier New" panose="020B0604020202020204" pitchFamily="34" charset="0"/>
              <a:buChar char="o"/>
            </a:pPr>
            <a:r>
              <a:rPr lang="en-US"/>
              <a:t>P(amazing | positive/negative) - How often does this </a:t>
            </a:r>
            <a:r>
              <a:rPr lang="en-US" err="1"/>
              <a:t>wor</a:t>
            </a:r>
            <a:r>
              <a:rPr lang="en-US"/>
              <a:t>d appear in positive or negative reviews</a:t>
            </a:r>
          </a:p>
          <a:p>
            <a:r>
              <a:rPr lang="en-US"/>
              <a:t>Allows for specific token classification </a:t>
            </a:r>
          </a:p>
          <a:p>
            <a:r>
              <a:rPr lang="en-US"/>
              <a:t>Provides our project with important key words detected throughout reviews</a:t>
            </a:r>
          </a:p>
        </p:txBody>
      </p:sp>
    </p:spTree>
    <p:extLst>
      <p:ext uri="{BB962C8B-B14F-4D97-AF65-F5344CB8AC3E}">
        <p14:creationId xmlns:p14="http://schemas.microsoft.com/office/powerpoint/2010/main" val="3451946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D9149-8368-48BB-D8B1-CB154C3EB22E}"/>
              </a:ext>
            </a:extLst>
          </p:cNvPr>
          <p:cNvSpPr>
            <a:spLocks noGrp="1"/>
          </p:cNvSpPr>
          <p:nvPr>
            <p:ph type="title"/>
          </p:nvPr>
        </p:nvSpPr>
        <p:spPr/>
        <p:txBody>
          <a:bodyPr/>
          <a:lstStyle/>
          <a:p>
            <a:r>
              <a:rPr lang="en-US"/>
              <a:t>Evaluation metrics</a:t>
            </a:r>
          </a:p>
        </p:txBody>
      </p:sp>
      <p:sp>
        <p:nvSpPr>
          <p:cNvPr id="3" name="Content Placeholder 2">
            <a:extLst>
              <a:ext uri="{FF2B5EF4-FFF2-40B4-BE49-F238E27FC236}">
                <a16:creationId xmlns:a16="http://schemas.microsoft.com/office/drawing/2014/main" id="{4433E7AC-8B8A-22F3-F98A-38CFAD94C325}"/>
              </a:ext>
            </a:extLst>
          </p:cNvPr>
          <p:cNvSpPr>
            <a:spLocks noGrp="1"/>
          </p:cNvSpPr>
          <p:nvPr>
            <p:ph idx="1"/>
          </p:nvPr>
        </p:nvSpPr>
        <p:spPr/>
        <p:txBody>
          <a:bodyPr vert="horz" lIns="91440" tIns="45720" rIns="91440" bIns="45720" rtlCol="0" anchor="t">
            <a:normAutofit/>
          </a:bodyPr>
          <a:lstStyle/>
          <a:p>
            <a:pPr marL="0" indent="0">
              <a:buNone/>
            </a:pPr>
            <a:r>
              <a:rPr lang="en-US"/>
              <a:t>Our group utilized multiple different metrics to determine the effectiveness and accuracy of our models:</a:t>
            </a:r>
          </a:p>
          <a:p>
            <a:r>
              <a:rPr lang="en-US"/>
              <a:t>Accuracy – Percentage of correct vs total predictions of a given model</a:t>
            </a:r>
          </a:p>
          <a:p>
            <a:r>
              <a:rPr lang="en-US"/>
              <a:t>Precision – A models correct predictions against all predictions</a:t>
            </a:r>
          </a:p>
          <a:p>
            <a:r>
              <a:rPr lang="en-US"/>
              <a:t>Recall – The amount of false negatives a model catches</a:t>
            </a:r>
          </a:p>
          <a:p>
            <a:r>
              <a:rPr lang="en-US"/>
              <a:t>F1 Score – Measurement between a models precision and recall</a:t>
            </a:r>
          </a:p>
          <a:p>
            <a:r>
              <a:rPr lang="en-US"/>
              <a:t>ROC Curve – A models true positive vs false positive rate</a:t>
            </a:r>
          </a:p>
        </p:txBody>
      </p:sp>
      <p:sp>
        <p:nvSpPr>
          <p:cNvPr id="4" name="Date Placeholder 3">
            <a:extLst>
              <a:ext uri="{FF2B5EF4-FFF2-40B4-BE49-F238E27FC236}">
                <a16:creationId xmlns:a16="http://schemas.microsoft.com/office/drawing/2014/main" id="{AE6033EE-66A5-7CD8-92EE-A0268B7F64C3}"/>
              </a:ext>
            </a:extLst>
          </p:cNvPr>
          <p:cNvSpPr>
            <a:spLocks noGrp="1"/>
          </p:cNvSpPr>
          <p:nvPr>
            <p:ph type="dt" sz="half" idx="10"/>
          </p:nvPr>
        </p:nvSpPr>
        <p:spPr/>
        <p:txBody>
          <a:bodyPr/>
          <a:lstStyle/>
          <a:p>
            <a:fld id="{B16BAAA1-DAB0-4225-87D1-00B596950FA4}" type="datetime1">
              <a:t>5/1/2026</a:t>
            </a:fld>
            <a:endParaRPr lang="en-US"/>
          </a:p>
        </p:txBody>
      </p:sp>
    </p:spTree>
    <p:extLst>
      <p:ext uri="{BB962C8B-B14F-4D97-AF65-F5344CB8AC3E}">
        <p14:creationId xmlns:p14="http://schemas.microsoft.com/office/powerpoint/2010/main" val="10455911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B8FF6-AACD-A7EB-708B-ECCBDD9DF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E666C-E5F7-5655-09E6-B82B18D1AB71}"/>
              </a:ext>
            </a:extLst>
          </p:cNvPr>
          <p:cNvSpPr>
            <a:spLocks noGrp="1"/>
          </p:cNvSpPr>
          <p:nvPr>
            <p:ph type="title"/>
          </p:nvPr>
        </p:nvSpPr>
        <p:spPr/>
        <p:txBody>
          <a:bodyPr/>
          <a:lstStyle/>
          <a:p>
            <a:r>
              <a:rPr lang="en-US"/>
              <a:t>Results</a:t>
            </a:r>
          </a:p>
        </p:txBody>
      </p:sp>
      <p:pic>
        <p:nvPicPr>
          <p:cNvPr id="7" name="Picture 6" descr="A screenshot of a computer&#10;&#10;AI-generated content may be incorrect.">
            <a:extLst>
              <a:ext uri="{FF2B5EF4-FFF2-40B4-BE49-F238E27FC236}">
                <a16:creationId xmlns:a16="http://schemas.microsoft.com/office/drawing/2014/main" id="{D9968F73-5AA5-4D0C-6BFD-8B725F990BF5}"/>
              </a:ext>
            </a:extLst>
          </p:cNvPr>
          <p:cNvPicPr>
            <a:picLocks noChangeAspect="1"/>
          </p:cNvPicPr>
          <p:nvPr/>
        </p:nvPicPr>
        <p:blipFill>
          <a:blip r:embed="rId2"/>
          <a:stretch>
            <a:fillRect/>
          </a:stretch>
        </p:blipFill>
        <p:spPr>
          <a:xfrm>
            <a:off x="718277" y="1603012"/>
            <a:ext cx="10953112" cy="5255939"/>
          </a:xfrm>
          <a:prstGeom prst="rect">
            <a:avLst/>
          </a:prstGeom>
          <a:noFill/>
        </p:spPr>
      </p:pic>
    </p:spTree>
    <p:extLst>
      <p:ext uri="{BB962C8B-B14F-4D97-AF65-F5344CB8AC3E}">
        <p14:creationId xmlns:p14="http://schemas.microsoft.com/office/powerpoint/2010/main" val="3941789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F611B-218F-FF5E-436B-AEFB702F1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78C691-DDC7-75C5-BAAB-54EC44EC3FAE}"/>
              </a:ext>
            </a:extLst>
          </p:cNvPr>
          <p:cNvSpPr>
            <a:spLocks noGrp="1"/>
          </p:cNvSpPr>
          <p:nvPr>
            <p:ph type="title"/>
          </p:nvPr>
        </p:nvSpPr>
        <p:spPr/>
        <p:txBody>
          <a:bodyPr/>
          <a:lstStyle/>
          <a:p>
            <a:r>
              <a:rPr lang="en-US"/>
              <a:t>Results</a:t>
            </a:r>
          </a:p>
        </p:txBody>
      </p:sp>
      <p:pic>
        <p:nvPicPr>
          <p:cNvPr id="3" name="Picture 2" descr="A graph of a model&#10;&#10;AI-generated content may be incorrect.">
            <a:extLst>
              <a:ext uri="{FF2B5EF4-FFF2-40B4-BE49-F238E27FC236}">
                <a16:creationId xmlns:a16="http://schemas.microsoft.com/office/drawing/2014/main" id="{FE4447E7-2E9E-377E-598D-ABBE8AF1E7DB}"/>
              </a:ext>
            </a:extLst>
          </p:cNvPr>
          <p:cNvPicPr>
            <a:picLocks noChangeAspect="1"/>
          </p:cNvPicPr>
          <p:nvPr/>
        </p:nvPicPr>
        <p:blipFill>
          <a:blip r:embed="rId2"/>
          <a:srcRect l="5922" t="15746" r="5559" b="6269"/>
          <a:stretch>
            <a:fillRect/>
          </a:stretch>
        </p:blipFill>
        <p:spPr>
          <a:xfrm>
            <a:off x="3032497" y="920172"/>
            <a:ext cx="6030449" cy="5007194"/>
          </a:xfrm>
          <a:prstGeom prst="rect">
            <a:avLst/>
          </a:prstGeom>
        </p:spPr>
      </p:pic>
    </p:spTree>
    <p:extLst>
      <p:ext uri="{BB962C8B-B14F-4D97-AF65-F5344CB8AC3E}">
        <p14:creationId xmlns:p14="http://schemas.microsoft.com/office/powerpoint/2010/main" val="2141778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DD833DB-AEA5-BD9E-2245-4A1901DA67F1}"/>
              </a:ext>
            </a:extLst>
          </p:cNvPr>
          <p:cNvSpPr>
            <a:spLocks noGrp="1"/>
          </p:cNvSpPr>
          <p:nvPr>
            <p:ph type="title"/>
          </p:nvPr>
        </p:nvSpPr>
        <p:spPr>
          <a:xfrm>
            <a:off x="700635" y="922096"/>
            <a:ext cx="10691265" cy="1371030"/>
          </a:xfrm>
        </p:spPr>
        <p:txBody>
          <a:bodyPr/>
          <a:lstStyle/>
          <a:p>
            <a:r>
              <a:rPr lang="en-US"/>
              <a:t>Business overview</a:t>
            </a:r>
          </a:p>
        </p:txBody>
      </p:sp>
      <p:pic>
        <p:nvPicPr>
          <p:cNvPr id="5" name="Picture 4" descr="A screenshot of a computer&#10;&#10;AI-generated content may be incorrect.">
            <a:extLst>
              <a:ext uri="{FF2B5EF4-FFF2-40B4-BE49-F238E27FC236}">
                <a16:creationId xmlns:a16="http://schemas.microsoft.com/office/drawing/2014/main" id="{CDCBA502-E2B5-59C9-8E70-5C6C4FEEDCCA}"/>
              </a:ext>
            </a:extLst>
          </p:cNvPr>
          <p:cNvPicPr>
            <a:picLocks noChangeAspect="1"/>
          </p:cNvPicPr>
          <p:nvPr/>
        </p:nvPicPr>
        <p:blipFill>
          <a:blip r:embed="rId2"/>
          <a:stretch>
            <a:fillRect/>
          </a:stretch>
        </p:blipFill>
        <p:spPr>
          <a:xfrm>
            <a:off x="700635" y="3001952"/>
            <a:ext cx="10691265" cy="2218436"/>
          </a:xfrm>
          <a:prstGeom prst="rect">
            <a:avLst/>
          </a:prstGeom>
          <a:noFill/>
        </p:spPr>
      </p:pic>
      <p:sp>
        <p:nvSpPr>
          <p:cNvPr id="4" name="Date Placeholder 3">
            <a:extLst>
              <a:ext uri="{FF2B5EF4-FFF2-40B4-BE49-F238E27FC236}">
                <a16:creationId xmlns:a16="http://schemas.microsoft.com/office/drawing/2014/main" id="{D3B4B944-36BE-C63E-12DD-C37589C13001}"/>
              </a:ext>
            </a:extLst>
          </p:cNvPr>
          <p:cNvSpPr>
            <a:spLocks noGrp="1"/>
          </p:cNvSpPr>
          <p:nvPr>
            <p:ph type="dt" sz="half" idx="10"/>
          </p:nvPr>
        </p:nvSpPr>
        <p:spPr>
          <a:xfrm>
            <a:off x="8369448" y="6356350"/>
            <a:ext cx="2592594" cy="365125"/>
          </a:xfrm>
        </p:spPr>
        <p:txBody>
          <a:bodyPr anchor="ctr">
            <a:normAutofit/>
          </a:bodyPr>
          <a:lstStyle/>
          <a:p>
            <a:pPr>
              <a:spcAft>
                <a:spcPts val="600"/>
              </a:spcAft>
            </a:pPr>
            <a:fld id="{2CD6EEED-7B55-4C27-B8D9-6BEA329C4712}" type="datetime1">
              <a:pPr>
                <a:spcAft>
                  <a:spcPts val="600"/>
                </a:spcAft>
              </a:pPr>
              <a:t>5/1/2026</a:t>
            </a:fld>
            <a:endParaRPr lang="en-US"/>
          </a:p>
        </p:txBody>
      </p:sp>
    </p:spTree>
    <p:extLst>
      <p:ext uri="{BB962C8B-B14F-4D97-AF65-F5344CB8AC3E}">
        <p14:creationId xmlns:p14="http://schemas.microsoft.com/office/powerpoint/2010/main" val="2287665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5940A-7406-1FEA-9446-461714962033}"/>
              </a:ext>
            </a:extLst>
          </p:cNvPr>
          <p:cNvSpPr>
            <a:spLocks noGrp="1"/>
          </p:cNvSpPr>
          <p:nvPr>
            <p:ph type="title"/>
          </p:nvPr>
        </p:nvSpPr>
        <p:spPr/>
        <p:txBody>
          <a:bodyPr/>
          <a:lstStyle/>
          <a:p>
            <a:r>
              <a:rPr lang="en-US"/>
              <a:t>Review sentiment analysis  - Negative</a:t>
            </a:r>
          </a:p>
        </p:txBody>
      </p:sp>
      <p:pic>
        <p:nvPicPr>
          <p:cNvPr id="5" name="Content Placeholder 4" descr="A screenshot of a computer&#10;&#10;AI-generated content may be incorrect.">
            <a:extLst>
              <a:ext uri="{FF2B5EF4-FFF2-40B4-BE49-F238E27FC236}">
                <a16:creationId xmlns:a16="http://schemas.microsoft.com/office/drawing/2014/main" id="{95502A25-CD49-4B75-A671-5791ADBC9276}"/>
              </a:ext>
            </a:extLst>
          </p:cNvPr>
          <p:cNvPicPr>
            <a:picLocks noGrp="1" noChangeAspect="1"/>
          </p:cNvPicPr>
          <p:nvPr>
            <p:ph idx="1"/>
          </p:nvPr>
        </p:nvPicPr>
        <p:blipFill>
          <a:blip r:embed="rId2"/>
          <a:stretch>
            <a:fillRect/>
          </a:stretch>
        </p:blipFill>
        <p:spPr>
          <a:xfrm>
            <a:off x="305525" y="2490585"/>
            <a:ext cx="11573208" cy="3530445"/>
          </a:xfrm>
          <a:prstGeom prst="rect">
            <a:avLst/>
          </a:prstGeom>
        </p:spPr>
      </p:pic>
      <p:sp>
        <p:nvSpPr>
          <p:cNvPr id="4" name="Date Placeholder 3">
            <a:extLst>
              <a:ext uri="{FF2B5EF4-FFF2-40B4-BE49-F238E27FC236}">
                <a16:creationId xmlns:a16="http://schemas.microsoft.com/office/drawing/2014/main" id="{1397F539-B639-F8B2-FCE4-4E57DC0E28FB}"/>
              </a:ext>
            </a:extLst>
          </p:cNvPr>
          <p:cNvSpPr>
            <a:spLocks noGrp="1"/>
          </p:cNvSpPr>
          <p:nvPr>
            <p:ph type="dt" sz="half" idx="10"/>
          </p:nvPr>
        </p:nvSpPr>
        <p:spPr/>
        <p:txBody>
          <a:bodyPr/>
          <a:lstStyle/>
          <a:p>
            <a:fld id="{EC51A58B-B2E5-4761-83CC-26B5FB558964}" type="datetime1">
              <a:t>5/1/2026</a:t>
            </a:fld>
            <a:endParaRPr lang="en-US"/>
          </a:p>
        </p:txBody>
      </p:sp>
    </p:spTree>
    <p:extLst>
      <p:ext uri="{BB962C8B-B14F-4D97-AF65-F5344CB8AC3E}">
        <p14:creationId xmlns:p14="http://schemas.microsoft.com/office/powerpoint/2010/main" val="2772053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45436-2940-9A57-64CF-5092AC6DE46C}"/>
              </a:ext>
            </a:extLst>
          </p:cNvPr>
          <p:cNvSpPr>
            <a:spLocks noGrp="1"/>
          </p:cNvSpPr>
          <p:nvPr>
            <p:ph type="title"/>
          </p:nvPr>
        </p:nvSpPr>
        <p:spPr/>
        <p:txBody>
          <a:bodyPr/>
          <a:lstStyle/>
          <a:p>
            <a:r>
              <a:rPr lang="en-US"/>
              <a:t>Review sentiment analysis  - positive</a:t>
            </a:r>
          </a:p>
          <a:p>
            <a:endParaRPr lang="en-US"/>
          </a:p>
        </p:txBody>
      </p:sp>
      <p:pic>
        <p:nvPicPr>
          <p:cNvPr id="5" name="Content Placeholder 4" descr="A screenshot of a computer&#10;&#10;AI-generated content may be incorrect.">
            <a:extLst>
              <a:ext uri="{FF2B5EF4-FFF2-40B4-BE49-F238E27FC236}">
                <a16:creationId xmlns:a16="http://schemas.microsoft.com/office/drawing/2014/main" id="{AF8DEEAE-234E-771C-ED2B-165ED6CD5BEE}"/>
              </a:ext>
            </a:extLst>
          </p:cNvPr>
          <p:cNvPicPr>
            <a:picLocks noGrp="1" noChangeAspect="1"/>
          </p:cNvPicPr>
          <p:nvPr>
            <p:ph idx="1"/>
          </p:nvPr>
        </p:nvPicPr>
        <p:blipFill>
          <a:blip r:embed="rId2"/>
          <a:stretch>
            <a:fillRect/>
          </a:stretch>
        </p:blipFill>
        <p:spPr>
          <a:xfrm>
            <a:off x="242024" y="2407201"/>
            <a:ext cx="11707264" cy="3083383"/>
          </a:xfrm>
          <a:prstGeom prst="rect">
            <a:avLst/>
          </a:prstGeom>
        </p:spPr>
      </p:pic>
      <p:sp>
        <p:nvSpPr>
          <p:cNvPr id="4" name="Date Placeholder 3">
            <a:extLst>
              <a:ext uri="{FF2B5EF4-FFF2-40B4-BE49-F238E27FC236}">
                <a16:creationId xmlns:a16="http://schemas.microsoft.com/office/drawing/2014/main" id="{EA842218-DA95-B97E-BFDB-8245EBB5124A}"/>
              </a:ext>
            </a:extLst>
          </p:cNvPr>
          <p:cNvSpPr>
            <a:spLocks noGrp="1"/>
          </p:cNvSpPr>
          <p:nvPr>
            <p:ph type="dt" sz="half" idx="10"/>
          </p:nvPr>
        </p:nvSpPr>
        <p:spPr/>
        <p:txBody>
          <a:bodyPr/>
          <a:lstStyle/>
          <a:p>
            <a:fld id="{83304EFB-1B4D-41FB-B0F4-C331D1C2EBBC}" type="datetime1">
              <a:t>5/1/2026</a:t>
            </a:fld>
            <a:endParaRPr lang="en-US"/>
          </a:p>
        </p:txBody>
      </p:sp>
    </p:spTree>
    <p:extLst>
      <p:ext uri="{BB962C8B-B14F-4D97-AF65-F5344CB8AC3E}">
        <p14:creationId xmlns:p14="http://schemas.microsoft.com/office/powerpoint/2010/main" val="27339079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05265-3B2B-4BAA-3A90-83DD53BA81F3}"/>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50FA7DEA-9692-0927-B5F8-3AB49082D64C}"/>
              </a:ext>
            </a:extLst>
          </p:cNvPr>
          <p:cNvSpPr>
            <a:spLocks noGrp="1"/>
          </p:cNvSpPr>
          <p:nvPr>
            <p:ph idx="1"/>
          </p:nvPr>
        </p:nvSpPr>
        <p:spPr/>
        <p:txBody>
          <a:bodyPr vert="horz" lIns="91440" tIns="45720" rIns="91440" bIns="45720" rtlCol="0" anchor="t">
            <a:normAutofit/>
          </a:bodyPr>
          <a:lstStyle/>
          <a:p>
            <a:r>
              <a:rPr lang="en-US"/>
              <a:t>CNN performed best overall, captures local context and capturing sentiment in a review</a:t>
            </a:r>
          </a:p>
          <a:p>
            <a:r>
              <a:rPr lang="en-US"/>
              <a:t>All models achieved ~85%-87% accuracy</a:t>
            </a:r>
          </a:p>
          <a:p>
            <a:r>
              <a:rPr lang="en-US"/>
              <a:t>Sentiment analysis is effective across multiple approaches:</a:t>
            </a:r>
          </a:p>
          <a:p>
            <a:pPr lvl="1">
              <a:buFont typeface="Courier New" panose="020B0604020202020204" pitchFamily="34" charset="0"/>
              <a:buChar char="o"/>
            </a:pPr>
            <a:r>
              <a:rPr lang="en-US"/>
              <a:t>The project as is now can be extended to more and diverse datasets, amazon reviews, movie reviews, social media posts, etc., to determine and measure user sentiment.</a:t>
            </a:r>
          </a:p>
          <a:p>
            <a:r>
              <a:rPr lang="en-US"/>
              <a:t>Sentiment Analysis using machine learning provides us with a powerful tool in understanding how wider groups engage with a multitude of different platforms and products.</a:t>
            </a:r>
          </a:p>
        </p:txBody>
      </p:sp>
    </p:spTree>
    <p:extLst>
      <p:ext uri="{BB962C8B-B14F-4D97-AF65-F5344CB8AC3E}">
        <p14:creationId xmlns:p14="http://schemas.microsoft.com/office/powerpoint/2010/main" val="1569376392"/>
      </p:ext>
    </p:extLst>
  </p:cSld>
  <p:clrMapOvr>
    <a:masterClrMapping/>
  </p:clrMapOvr>
</p:sld>
</file>

<file path=ppt/theme/theme1.xml><?xml version="1.0" encoding="utf-8"?>
<a:theme xmlns:a="http://schemas.openxmlformats.org/drawingml/2006/main" name="ChronicleVTI">
  <a:themeElements>
    <a:clrScheme name="ChronicleVTI">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hronicleVTI">
      <a:majorFont>
        <a:latin typeface="Univers Condensed"/>
        <a:ea typeface=""/>
        <a:cs typeface=""/>
      </a:majorFont>
      <a:minorFont>
        <a:latin typeface="Calisto MT" panose="02040603050505030304"/>
        <a:ea typeface=""/>
        <a:cs typeface=""/>
      </a:minorFont>
    </a:fontScheme>
    <a:fmtScheme name="Chronicle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nicleVTI" id="{534FD3B1-53CD-4A5C-943C-C44DFF248C3E}" vid="{19A790DA-2E4D-4134-98A6-7DECB1A1B842}"/>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ChronicleVTI</vt:lpstr>
      <vt:lpstr>Sentiment Analysis Of  text data  using multiple models</vt:lpstr>
      <vt:lpstr>Problem statement</vt:lpstr>
      <vt:lpstr>WHY it is useful</vt:lpstr>
      <vt:lpstr>Datasets Used</vt:lpstr>
      <vt:lpstr>Preprocessing and Cleaning</vt:lpstr>
      <vt:lpstr>Approach</vt:lpstr>
      <vt:lpstr>CNN</vt:lpstr>
      <vt:lpstr>Gradient Boosting</vt:lpstr>
      <vt:lpstr>Naïve Bayes</vt:lpstr>
      <vt:lpstr>Evaluation metrics</vt:lpstr>
      <vt:lpstr>Results</vt:lpstr>
      <vt:lpstr>Results</vt:lpstr>
      <vt:lpstr>Business overview</vt:lpstr>
      <vt:lpstr>Review sentiment analysis  - Negative</vt:lpstr>
      <vt:lpstr>Review sentiment analysis  - positive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2026-04-26T01:58:00Z</dcterms:created>
  <dcterms:modified xsi:type="dcterms:W3CDTF">2026-05-02T00:21:50Z</dcterms:modified>
</cp:coreProperties>
</file>